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bubble3D val="0"/>
            <c:spPr>
              <a:solidFill>
                <a:srgbClr val="E8A838"/>
              </a:solidFill>
              <a:effectLst/>
            </c:spPr>
          </c:dPt>
          <c:dPt>
            <c:idx val="2"/>
            <c:bubble3D val="0"/>
            <c:spPr>
              <a:solidFill>
                <a:srgbClr val="E24B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Faible Risque</c:v>
                </c:pt>
                <c:pt idx="1">
                  <c:v>Risque Moyen</c:v>
                </c:pt>
                <c:pt idx="2">
                  <c:v>Risque Elevé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</c:v>
                </c:pt>
                <c:pt idx="1">
                  <c:v>28</c:v>
                </c:pt>
                <c:pt idx="2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205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CADCFC"/>
                </a:solidFill>
              </a:rPr>
              <a:t>PROJET P-05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API de Scoring de Crédit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Micro-Finance sur AWS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FinAccès Sahel — Sénégal · Mali · Burkina Faso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</a:rPr>
              <a:t>ISI Dakar · AWS Cloud Foundations · M. LAM Sabarane · 2025-2026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Contexte &amp; Problématique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Le défi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55"/>
                </a:solidFill>
              </a:rPr>
              <a:t>Les IMF d'Afrique de l'Ouest accordent des prêts entre 50 000 et 5 000 000 XOF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55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55"/>
                </a:solidFill>
              </a:rPr>
              <a:t>Décisions basées sur l'évaluation subjective des agents → risque élevé de défaut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55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55"/>
                </a:solidFill>
              </a:rPr>
              <a:t>Taux de défaut moyen sans outil : 30%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</a:rPr>
              <a:t>La solution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55"/>
                </a:solidFill>
              </a:rPr>
              <a:t>Système automatisé de scoring déployé sur AWS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55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55"/>
                </a:solidFill>
              </a:rPr>
              <a:t>Score 0-1000 calculé en &lt; 1 seconde par l'API Flask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55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55"/>
                </a:solidFill>
              </a:rPr>
              <a:t>Accessible depuis les tablettes des agents de terrain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Architecture AWS Déployée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8778240" cy="3840480"/>
          </a:xfrm>
          <a:prstGeom prst="rect">
            <a:avLst/>
          </a:prstGeom>
          <a:solidFill>
            <a:srgbClr val="E8F4FD"/>
          </a:solidFill>
          <a:ln w="19050">
            <a:solidFill>
              <a:srgbClr val="2E6D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DB4"/>
                </a:solidFill>
              </a:rPr>
              <a:t>VPC finacces-vpc — 10.0.0.0/16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463040" cy="54864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IGW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1417320"/>
            <a:ext cx="1463040" cy="54864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417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finacces-alb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417320"/>
            <a:ext cx="1463040" cy="548640"/>
          </a:xfrm>
          <a:prstGeom prst="rect">
            <a:avLst/>
          </a:prstGeom>
          <a:solidFill>
            <a:srgbClr val="0D7A4E"/>
          </a:solidFill>
          <a:ln w="12700">
            <a:solidFill>
              <a:srgbClr val="0D7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417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EC2 t2.micro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Flask API :5000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417320"/>
            <a:ext cx="1463040" cy="5486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1417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S3 Bucket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Modeles .pkl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0" y="169164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1691640"/>
            <a:ext cx="3657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691640"/>
            <a:ext cx="36576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0" y="15087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9E75"/>
                </a:solidFill>
              </a:rPr>
              <a:t>IAM Role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331720"/>
            <a:ext cx="8412480" cy="2286000"/>
          </a:xfrm>
          <a:prstGeom prst="rect">
            <a:avLst/>
          </a:prstGeom>
          <a:solidFill>
            <a:srgbClr val="FFF3E0"/>
          </a:solidFill>
          <a:ln w="12700">
            <a:solidFill>
              <a:srgbClr val="E8A838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720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6600"/>
                </a:solidFill>
              </a:rPr>
              <a:t>Sous-réseau privé — 10.0.2.0/24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743200"/>
            <a:ext cx="2011680" cy="7315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43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RDS MySQL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finacces_db :3306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743200"/>
            <a:ext cx="2011680" cy="7315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743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CloudWatch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 + Alarmes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760720" y="2743200"/>
            <a:ext cx="2011680" cy="73152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27432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IAM Role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Least privilege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965960"/>
            <a:ext cx="0" cy="777240"/>
          </a:xfrm>
          <a:prstGeom prst="line">
            <a:avLst/>
          </a:prstGeom>
          <a:noFill/>
          <a:ln w="12700">
            <a:solidFill>
              <a:srgbClr val="1E2761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Modèle de Scoring 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1031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Dataset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German Credit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UCI — 1000 clients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21031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Accuracy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78%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Classification binaire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21031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ROC-AUC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0.81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Bonne discrimination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32320" y="1097280"/>
            <a:ext cx="21031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1887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Réduction défauts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-40%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2237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30% → 18%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Grille de décision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1645920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971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700 – 1000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0" y="2971800"/>
            <a:ext cx="2286000" cy="41148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4" name="Text 22"/>
          <p:cNvSpPr/>
          <p:nvPr/>
        </p:nvSpPr>
        <p:spPr>
          <a:xfrm>
            <a:off x="201168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FAIBLE RISQUE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2971800"/>
            <a:ext cx="2743200" cy="41148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0" y="2971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Crédit approuvé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474720"/>
            <a:ext cx="1645920" cy="4114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4747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500 – 699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011680" y="3474720"/>
            <a:ext cx="2286000" cy="41148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0" name="Text 28"/>
          <p:cNvSpPr/>
          <p:nvPr/>
        </p:nvSpPr>
        <p:spPr>
          <a:xfrm>
            <a:off x="201168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RISQUE MOYEN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3474720"/>
            <a:ext cx="2743200" cy="41148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0" y="3474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Approuvé avec garanties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977640"/>
            <a:ext cx="1645920" cy="4114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39776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 – 499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11680" y="3977640"/>
            <a:ext cx="2286000" cy="41148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6" name="Text 34"/>
          <p:cNvSpPr/>
          <p:nvPr/>
        </p:nvSpPr>
        <p:spPr>
          <a:xfrm>
            <a:off x="201168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RISQUE ÉLEVÉ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89120" y="3977640"/>
            <a:ext cx="2743200" cy="41148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0" y="3977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Crédit refusé</a:t>
            </a:r>
            <a:endParaRPr lang="en-US" sz="11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6858000" y="2468880"/>
          <a:ext cx="2103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Démonstration API — Résultats Live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005840"/>
          </a:xfrm>
          <a:prstGeom prst="rect">
            <a:avLst/>
          </a:prstGeom>
          <a:solidFill>
            <a:srgbClr val="1E2A1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/health  →  {"status":"healthy","message":"FinAccès Sahel API opérationnelle","timestamp":"2026-03-31T19:24:27"}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2148840"/>
            <a:ext cx="8595360" cy="1371600"/>
          </a:xfrm>
          <a:prstGeom prst="rect">
            <a:avLst/>
          </a:prstGeom>
          <a:solidFill>
            <a:srgbClr val="1E2A1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0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/score  →  </a:t>
            </a:r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{"score": 641, "probabilite_defaut": 35.82,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"categorie_risque": "RISQUE MOYEN", "recommandation": "Credit approuve avec garanties"}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4 Endpoints disponibles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4023360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POST /score — Scoring client → score 0-1000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4023360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GET /health — Health check ALB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480560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480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GET /historique/{id} — 10 dernières demandes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4480560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4480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GET /stats — Statistiques par pays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ROI &amp; Sécurité AWS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Retour sur Investissement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Économie mensuelle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600200"/>
            <a:ext cx="1463040" cy="34747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6002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22 294 500 XOF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Coût AWS/mois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2075688"/>
            <a:ext cx="1463040" cy="34747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0756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~18 000 XOF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Payback period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0" y="2551176"/>
            <a:ext cx="1463040" cy="34747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55117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2 mois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0266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ROI sur 1 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3026664"/>
            <a:ext cx="1463040" cy="34747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30266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+496%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5021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Taux défaut avant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3502152"/>
            <a:ext cx="1463040" cy="34747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5021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38"/>
                </a:solidFill>
              </a:rPr>
              <a:t>30%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Taux défaut après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3977640"/>
            <a:ext cx="1463040" cy="34747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38"/>
                </a:solidFill>
              </a:rPr>
              <a:t>18%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Bonnes pratiques Sécurité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1600200"/>
            <a:ext cx="320040" cy="34747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6002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600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IAM Role EC2 — jamais de credentials dans le code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075688"/>
            <a:ext cx="320040" cy="34747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07568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2075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Aurora dans sous-réseau privé — inaccessible depuis Internet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551176"/>
            <a:ext cx="320040" cy="34747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55117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25511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RDS-SG : port 3306 depuis EC2-SG uniquement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026664"/>
            <a:ext cx="320040" cy="34747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02666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30266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Chiffrement RDS at rest activé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502152"/>
            <a:ext cx="320040" cy="34747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5021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57800" y="3502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3 alarmes CloudWatch actives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977640"/>
            <a:ext cx="320040" cy="34747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397764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57800" y="39776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55"/>
                </a:solidFill>
              </a:rPr>
              <a:t>Modèle chargé depuis S3 via IAM Role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Monitoring CloudWatch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CPU Utilization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EC2 finacces-ec2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3774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23774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03120"/>
            <a:ext cx="2377440" cy="365760"/>
          </a:xfrm>
          <a:prstGeom prst="line">
            <a:avLst/>
          </a:prstGeom>
          <a:noFill/>
          <a:ln w="25400">
            <a:solidFill>
              <a:srgbClr val="2E6D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Request Count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ALB finacces-alb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103120"/>
            <a:ext cx="23774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2468880"/>
            <a:ext cx="23774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2103120"/>
            <a:ext cx="2377440" cy="36576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743200" cy="3200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DB Connections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RDS finacces-db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2103120"/>
            <a:ext cx="23774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2468880"/>
            <a:ext cx="23774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103120"/>
            <a:ext cx="2377440" cy="365760"/>
          </a:xfrm>
          <a:prstGeom prst="line">
            <a:avLst/>
          </a:prstGeom>
          <a:noFill/>
          <a:ln w="25400">
            <a:solidFill>
              <a:srgbClr val="E8A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3 Alarmes configurées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474720"/>
            <a:ext cx="91440" cy="137160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finacces-cpu-alarm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</a:rPr>
              <a:t>CPU EC2 &gt; 80%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347472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474720"/>
            <a:ext cx="91440" cy="13716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finacces-requests-alarm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</a:rPr>
              <a:t>Requêtes ALB &gt; 1000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47472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474720"/>
            <a:ext cx="91440" cy="13716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finacces-db-alarm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4069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788"/>
                </a:solidFill>
              </a:rPr>
              <a:t>Connexions DB &gt; 80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Bilan &amp; Perspectives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Ce qui a été réalisé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74320" cy="3017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45920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VPC sécurisé 2 couches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274320" cy="3017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84832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08483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EC2 + API Flask opérationnelle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274320" cy="3017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23744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52374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RDS MySQL sous-réseau privé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274320" cy="3017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62656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S3 + IAM Role (pas de credentials hardcodés)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401568"/>
            <a:ext cx="274320" cy="3017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401568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40156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ALB avec health checks actifs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274320" cy="3017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840480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84048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3 alarmes + Dashboard CloudWatch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Améliorations futures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1645920"/>
            <a:ext cx="274320" cy="3017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645920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164592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Auto Scaling Group pour les pics de charge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084832"/>
            <a:ext cx="274320" cy="3017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084832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208483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CI/CD avec AWS CodeDeploy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2523744"/>
            <a:ext cx="274320" cy="3017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523744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252374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SageMaker pour le retraining automatique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962656"/>
            <a:ext cx="274320" cy="3017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962656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2962656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HTTPS avec certificat ACM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401568"/>
            <a:ext cx="274320" cy="30175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401568"/>
            <a:ext cx="274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340156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Connexion Aurora Multi-AZ en production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BB"/>
                </a:solidFill>
              </a:rPr>
              <a:t>Merci pour votre attention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P-05 - API Scoring Credit FinAcces Sahel</dc:title>
  <dc:subject>PptxGenJS Presentation</dc:subject>
  <dc:creator>PptxGenJS</dc:creator>
  <cp:lastModifiedBy>PptxGenJS</cp:lastModifiedBy>
  <cp:revision>1</cp:revision>
  <dcterms:created xsi:type="dcterms:W3CDTF">2026-03-31T19:28:33Z</dcterms:created>
  <dcterms:modified xsi:type="dcterms:W3CDTF">2026-03-31T19:28:33Z</dcterms:modified>
</cp:coreProperties>
</file>